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3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21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State the name once, clearly. One sentence on what it does before moving on — don't over-explain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audience in a real pain point before showing the fix. Keep this under 30 seconds — judges have seen GIS complexity before, don't over-justify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slide. Read the example prompt out loud, then point at the two response bubbles — that's the whole pitch in one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six cards. Call out 2-3 that are most novel (Sentinel-2 retrieval, K-Means clustering) and let the rest speak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 top to bottom with your finger/cursor as you talk. Emphasize the Command Router — that's the technical decision judges will ask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here — this slide is for credibility, not explanation. Mention AMD Developer Cloud and Docker explicitly since judges are scoring platform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bridge into your live demo. Say the example prompt, then say 'let's watch this happen live' and switch to the actual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these three placeholders with real screenshots before presenting: main interface, AI panel mid-conversation, and a clustering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7A1AA-B52A-6385-9471-1DDE567C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D87D9-DAF9-18F4-8E7F-493370C74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82089-DF31-5071-0CE2-35DCDB45E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these three placeholders with real screenshots before presenting: main interface, AI panel mid-conversation, and a clustering result.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540DC-2CFB-3665-BD6F-4F4764228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01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Quick, energetic close-out of the roadmap — signals ambition without over-promising. 15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GitHub placeholder with your real repo URL before submission. End on a confident pause, not a rushed thank-you.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371600"/>
            <a:ext cx="5486400" cy="5486400"/>
          </a:xfrm>
          <a:prstGeom prst="ellipse">
            <a:avLst/>
          </a:prstGeom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-2194560"/>
            <a:ext cx="7132320" cy="7132320"/>
          </a:xfrm>
          <a:prstGeom prst="ellipse">
            <a:avLst/>
          </a:prstGeom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-3017520"/>
            <a:ext cx="8778240" cy="8778240"/>
          </a:xfrm>
          <a:prstGeom prst="ellipse">
            <a:avLst/>
          </a:prstGeom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atellit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HACKATHON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GEOCLUSTER 2.0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Geospatial Assistant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retrieval, GIS processing, and a natural-language AI assistant — in one desktop application.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6035040"/>
            <a:ext cx="20116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Python · PyQt5 · Sentinel-2 · GPT-OSS-20B · AMD Developer Cloud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GIS software was built for specialists,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for the people who need it fastest.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880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terminal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9992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8529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317296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coordinate systems, and file formats stand between a question and an answer.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39319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cloud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5079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9044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hunting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422452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downloading the right satellite scene is its own multi-step chore.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49834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slider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10235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9560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52760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imagery and processing it usually means switching between separate apps.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38160" y="1005840"/>
            <a:ext cx="3291840" cy="5120640"/>
          </a:xfrm>
          <a:prstGeom prst="roundRect">
            <a:avLst>
              <a:gd name="adj" fmla="val 3333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map_dark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8458200" y="1417320"/>
            <a:ext cx="384048" cy="384048"/>
          </a:xfrm>
          <a:prstGeom prst="rect">
            <a:avLst/>
          </a:prstGeom>
        </p:spPr>
      </p:pic>
      <p:pic>
        <p:nvPicPr>
          <p:cNvPr id="18" name="Image 4" descr="icons/layers_dark.png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9418320" y="1737360"/>
            <a:ext cx="384048" cy="384048"/>
          </a:xfrm>
          <a:prstGeom prst="rect">
            <a:avLst/>
          </a:prstGeom>
        </p:spPr>
      </p:pic>
      <p:pic>
        <p:nvPicPr>
          <p:cNvPr id="19" name="Image 5" descr="icons/database_dark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8686800" y="2468880"/>
            <a:ext cx="384048" cy="384048"/>
          </a:xfrm>
          <a:prstGeom prst="rect">
            <a:avLst/>
          </a:prstGeom>
        </p:spPr>
      </p:pic>
      <p:pic>
        <p:nvPicPr>
          <p:cNvPr id="20" name="Image 6" descr="icons/grid_dark.pn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9692640" y="2834640"/>
            <a:ext cx="384048" cy="384048"/>
          </a:xfrm>
          <a:prstGeom prst="rect">
            <a:avLst/>
          </a:prstGeom>
        </p:spPr>
      </p:pic>
      <p:pic>
        <p:nvPicPr>
          <p:cNvPr id="21" name="Image 7" descr="icons/cpu_dark.png"/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8412480" y="3566160"/>
            <a:ext cx="384048" cy="384048"/>
          </a:xfrm>
          <a:prstGeom prst="rect">
            <a:avLst/>
          </a:prstGeom>
        </p:spPr>
      </p:pic>
      <p:pic>
        <p:nvPicPr>
          <p:cNvPr id="22" name="Image 8" descr="icons/box_dark.png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9509760" y="4023360"/>
            <a:ext cx="384048" cy="384048"/>
          </a:xfrm>
          <a:prstGeom prst="rect">
            <a:avLst/>
          </a:prstGeom>
        </p:spPr>
      </p:pic>
      <p:pic>
        <p:nvPicPr>
          <p:cNvPr id="23" name="Image 9" descr="icons/monitor_dark.png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8778240" y="4754880"/>
            <a:ext cx="384048" cy="384048"/>
          </a:xfrm>
          <a:prstGeom prst="rect">
            <a:avLst/>
          </a:prstGeom>
        </p:spPr>
      </p:pic>
      <p:pic>
        <p:nvPicPr>
          <p:cNvPr id="24" name="Image 10" descr="icons/terminal_dark.png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9326880" y="5394960"/>
            <a:ext cx="384048" cy="384048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8366760" y="5623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steps.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Ask for what you need.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GEOCLUSTER does the rest.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GEOCLUSTER 2.0 wraps satellite retrieval and GIS processing behind a single natural-language assistant — so a plain English sentence replaces a whole workflow.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3520440"/>
            <a:ext cx="6675120" cy="685800"/>
          </a:xfrm>
          <a:prstGeom prst="roundRect">
            <a:avLst>
              <a:gd name="adj" fmla="val 46667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messag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307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352044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NUST imagery and cluster it into 5 zones."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03120" y="4434840"/>
            <a:ext cx="5852160" cy="640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617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44348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Sentinel-2 · running K-Means · rendering result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503920" y="11887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8503920" y="1965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INTERFACE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503920" y="27432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850392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OPERATIONS UNIFIED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503920" y="4297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89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4600" dirty="0"/>
          </a:p>
        </p:txBody>
      </p:sp>
      <p:sp>
        <p:nvSpPr>
          <p:cNvPr id="16" name="Text 12"/>
          <p:cNvSpPr/>
          <p:nvPr/>
        </p:nvSpPr>
        <p:spPr>
          <a:xfrm>
            <a:off x="8503920" y="5074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DOWNLOADS NEEDED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Everything a geospatial workflow needs,</a:t>
            </a:r>
            <a:endParaRPr lang="en-US" sz="2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unified behind one assistant.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robot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4963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05840" y="33649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 answers GIS &amp; remote sensing questions directly.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26280" y="21488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atellit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9631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Retrieval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33649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real satellite imagery for any named location, on demand.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75320" y="21488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503920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messag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49631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0175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Commands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03920" y="33649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replaces menus — "cluster this into 5 zones."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7724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05840" y="45720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imag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69087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5212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005840" y="55595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Brightness, threshold, negative, and mean filtering, all built in.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2628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754880" y="45720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s/grid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469087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5212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54880" y="55595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GPU-ready unsupervised classification of imagery.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7532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503920" y="45720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icons/ruler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2" y="469087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52120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Tools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03920" y="555955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histogram analysis on any loaded image.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a typed sentence to a rendered result.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703320" y="169164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F2427"/>
          </a:solidFill>
          <a:ln w="12700">
            <a:solidFill>
              <a:srgbClr val="1D3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monito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18288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3400" y="169164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pic>
        <p:nvPicPr>
          <p:cNvPr id="7" name="Image 1" descr="icons/arrow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286000"/>
            <a:ext cx="201168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703320" y="251460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F2427"/>
          </a:solidFill>
          <a:ln w="12700">
            <a:solidFill>
              <a:srgbClr val="1D3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icons/layou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265176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3400" y="251460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Desktop UI</a:t>
            </a:r>
            <a:endParaRPr lang="en-US" sz="1400" dirty="0"/>
          </a:p>
        </p:txBody>
      </p:sp>
      <p:pic>
        <p:nvPicPr>
          <p:cNvPr id="11" name="Image 3" descr="icons/arrow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108960"/>
            <a:ext cx="201168" cy="20116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703320" y="333756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F2427"/>
          </a:solidFill>
          <a:ln w="12700">
            <a:solidFill>
              <a:srgbClr val="1D3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4" descr="icons/terminal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347472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3400" y="333756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Router</a:t>
            </a:r>
            <a:endParaRPr lang="en-US" sz="1400" dirty="0"/>
          </a:p>
        </p:txBody>
      </p:sp>
      <p:pic>
        <p:nvPicPr>
          <p:cNvPr id="15" name="Image 5" descr="icons/arrow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931920"/>
            <a:ext cx="201168" cy="20116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703320" y="416052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6" descr="icons/robo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88" y="4297680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343400" y="416052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 /  Image Processing</a:t>
            </a:r>
            <a:endParaRPr lang="en-US" sz="1400" dirty="0"/>
          </a:p>
        </p:txBody>
      </p:sp>
      <p:pic>
        <p:nvPicPr>
          <p:cNvPr id="19" name="Image 7" descr="icons/arrow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4754880"/>
            <a:ext cx="201168" cy="20116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3703320" y="49834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F2427"/>
          </a:solidFill>
          <a:ln w="12700">
            <a:solidFill>
              <a:srgbClr val="1D3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8" descr="icons/satellit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8" y="5120640"/>
            <a:ext cx="292608" cy="29260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4343400" y="498348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Retrieval</a:t>
            </a:r>
            <a:endParaRPr lang="en-US" sz="1400" dirty="0"/>
          </a:p>
        </p:txBody>
      </p:sp>
      <p:pic>
        <p:nvPicPr>
          <p:cNvPr id="23" name="Image 9" descr="icons/arrow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5577840"/>
            <a:ext cx="201168" cy="201168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3703320" y="580644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F2427"/>
          </a:solidFill>
          <a:ln w="12700">
            <a:solidFill>
              <a:srgbClr val="1D3B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0" descr="icons/ey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4488" y="5943600"/>
            <a:ext cx="292608" cy="29260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4343400" y="580644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Viewer</a:t>
            </a:r>
            <a:endParaRPr lang="en-US" sz="1400" dirty="0"/>
          </a:p>
        </p:txBody>
      </p:sp>
      <p:sp>
        <p:nvSpPr>
          <p:cNvPr id="27" name="Text 14"/>
          <p:cNvSpPr/>
          <p:nvPr/>
        </p:nvSpPr>
        <p:spPr>
          <a:xfrm>
            <a:off x="905256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28" name="Text 15"/>
          <p:cNvSpPr/>
          <p:nvPr/>
        </p:nvSpPr>
        <p:spPr>
          <a:xfrm>
            <a:off x="9052560" y="21488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router decides whether a prompt needs the AI assistant, an image operation, or a satellite fetch — then hands off to the right module.</a:t>
            </a:r>
            <a:endParaRPr lang="en-US" sz="1100" dirty="0"/>
          </a:p>
        </p:txBody>
      </p:sp>
      <p:sp>
        <p:nvSpPr>
          <p:cNvPr id="29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on a lean, production-ready stack.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9516" y="210312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pytho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24" y="23957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94076" y="210312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layou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239572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39796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88636" y="210312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imag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444" y="2395728"/>
            <a:ext cx="512064" cy="512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4356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283196" y="210312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s/gri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004" y="2395728"/>
            <a:ext cx="512064" cy="5120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28916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9477756" y="210312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icons/bar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7564" y="2395728"/>
            <a:ext cx="512064" cy="5120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23476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99516" y="402336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5" descr="icons/sun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9324" y="4315968"/>
            <a:ext cx="512064" cy="512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5236" y="5074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2894076" y="402336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6" descr="icons/robot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3884" y="4315968"/>
            <a:ext cx="512064" cy="51206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939796" y="5074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5088636" y="402336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7" descr="icons/satellite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444" y="4315968"/>
            <a:ext cx="512064" cy="51206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34356" y="5074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7283196" y="402336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8" descr="icons/docker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3004" y="4315968"/>
            <a:ext cx="512064" cy="51206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328916" y="5074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31" name="Shape 20"/>
          <p:cNvSpPr/>
          <p:nvPr/>
        </p:nvSpPr>
        <p:spPr>
          <a:xfrm>
            <a:off x="9477756" y="402336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9" descr="icons/cloud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7564" y="4315968"/>
            <a:ext cx="512064" cy="51206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523476" y="5074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 Cloud</a:t>
            </a:r>
            <a:endParaRPr lang="en-US" sz="1150" dirty="0"/>
          </a:p>
        </p:txBody>
      </p:sp>
      <p:sp>
        <p:nvSpPr>
          <p:cNvPr id="3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sentence, five automated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8096" y="28346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31036" y="3063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messag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31912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3749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50" dirty="0"/>
          </a:p>
        </p:txBody>
      </p:sp>
      <p:pic>
        <p:nvPicPr>
          <p:cNvPr id="8" name="Image 1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349300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962656" y="28346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625596" y="3063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terminal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3612" y="319125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08376" y="3749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Router</a:t>
            </a:r>
            <a:endParaRPr lang="en-US" sz="1150" dirty="0"/>
          </a:p>
        </p:txBody>
      </p:sp>
      <p:pic>
        <p:nvPicPr>
          <p:cNvPr id="13" name="Image 3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49300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57216" y="28346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5820156" y="3063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icons/satellit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172" y="319125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02936" y="3749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Imagery</a:t>
            </a:r>
            <a:endParaRPr lang="en-US" sz="1150" dirty="0"/>
          </a:p>
        </p:txBody>
      </p:sp>
      <p:pic>
        <p:nvPicPr>
          <p:cNvPr id="18" name="Image 5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349300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51776" y="28346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8014716" y="3063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icons/grid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732" y="3191256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397496" y="3749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Image</a:t>
            </a:r>
            <a:endParaRPr lang="en-US" sz="1150" dirty="0"/>
          </a:p>
        </p:txBody>
      </p:sp>
      <p:pic>
        <p:nvPicPr>
          <p:cNvPr id="23" name="Image 7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349300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546336" y="283464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0F242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5"/>
          <p:cNvSpPr/>
          <p:nvPr/>
        </p:nvSpPr>
        <p:spPr>
          <a:xfrm>
            <a:off x="10209276" y="3063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0D32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8" descr="icons/eye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7292" y="3191256"/>
            <a:ext cx="292608" cy="29260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592056" y="3749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150" dirty="0"/>
          </a:p>
        </p:txBody>
      </p:sp>
      <p:sp>
        <p:nvSpPr>
          <p:cNvPr id="28" name="Text 17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"Show me NUST imagery and cluster it into 5 zones."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See it in action.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331843"/>
            <a:ext cx="10454640" cy="5307495"/>
          </a:xfrm>
          <a:prstGeom prst="roundRect">
            <a:avLst>
              <a:gd name="adj" fmla="val 2667"/>
            </a:avLst>
          </a:prstGeom>
          <a:solidFill>
            <a:srgbClr val="0F2427"/>
          </a:solidFill>
          <a:ln w="19050">
            <a:solidFill>
              <a:srgbClr val="1D3B3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monitor_dark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2171700" y="3246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886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472940" y="6309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Interface</a:t>
            </a:r>
            <a:endParaRPr lang="en-US" sz="1300" dirty="0"/>
          </a:p>
        </p:txBody>
      </p:sp>
      <p:pic>
        <p:nvPicPr>
          <p:cNvPr id="9" name="Image 1" descr="icons/message_dar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5875020" y="32461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886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63440" y="5779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3" name="Image 2" descr="icons/grid_dark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9578340" y="32461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6760" y="5779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D8442D7-715D-38BB-A417-7C09603F0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994" y="1417320"/>
            <a:ext cx="9462052" cy="49872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0E920-1B61-E51C-AFC5-17DB9D93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C0FC06-AD3F-E46E-C7B0-3FCFCCC27197}"/>
              </a:ext>
            </a:extLst>
          </p:cNvPr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176864-B3A3-6416-1E9C-248AB54FB539}"/>
              </a:ext>
            </a:extLst>
          </p:cNvPr>
          <p:cNvSpPr/>
          <p:nvPr/>
        </p:nvSpPr>
        <p:spPr>
          <a:xfrm>
            <a:off x="7772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See it in action.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A0EBD7-7F6B-3CC9-AD87-366FB6AC293C}"/>
              </a:ext>
            </a:extLst>
          </p:cNvPr>
          <p:cNvSpPr/>
          <p:nvPr/>
        </p:nvSpPr>
        <p:spPr>
          <a:xfrm>
            <a:off x="777240" y="1331843"/>
            <a:ext cx="10454640" cy="5307495"/>
          </a:xfrm>
          <a:prstGeom prst="roundRect">
            <a:avLst>
              <a:gd name="adj" fmla="val 2667"/>
            </a:avLst>
          </a:prstGeom>
          <a:solidFill>
            <a:srgbClr val="0F2427"/>
          </a:solidFill>
          <a:ln w="19050">
            <a:solidFill>
              <a:srgbClr val="1D3B3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monitor_dark.png">
            <a:extLst>
              <a:ext uri="{FF2B5EF4-FFF2-40B4-BE49-F238E27FC236}">
                <a16:creationId xmlns:a16="http://schemas.microsoft.com/office/drawing/2014/main" id="{00EAA179-5973-6CDE-4673-DDAB16258F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2171700" y="3246120"/>
            <a:ext cx="640080" cy="64008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16E1EA8-FFEC-CA23-3664-EC58CC200A9E}"/>
              </a:ext>
            </a:extLst>
          </p:cNvPr>
          <p:cNvSpPr/>
          <p:nvPr/>
        </p:nvSpPr>
        <p:spPr>
          <a:xfrm>
            <a:off x="960120" y="3886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BA603A8-0BC1-9381-6328-BD4FB2750FC7}"/>
              </a:ext>
            </a:extLst>
          </p:cNvPr>
          <p:cNvSpPr/>
          <p:nvPr/>
        </p:nvSpPr>
        <p:spPr>
          <a:xfrm>
            <a:off x="4472940" y="6309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9" name="Image 1" descr="icons/message_dark.png">
            <a:extLst>
              <a:ext uri="{FF2B5EF4-FFF2-40B4-BE49-F238E27FC236}">
                <a16:creationId xmlns:a16="http://schemas.microsoft.com/office/drawing/2014/main" id="{2D32C6C9-FF33-D4BC-2A0D-B6A036B6C2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5875020" y="3246120"/>
            <a:ext cx="640080" cy="64008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49FB906-67BB-D731-6AED-7FECDD2F026B}"/>
              </a:ext>
            </a:extLst>
          </p:cNvPr>
          <p:cNvSpPr/>
          <p:nvPr/>
        </p:nvSpPr>
        <p:spPr>
          <a:xfrm>
            <a:off x="4663440" y="38862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A7C1BC2-64DB-0A1F-D4B0-DAAE8772F62F}"/>
              </a:ext>
            </a:extLst>
          </p:cNvPr>
          <p:cNvSpPr/>
          <p:nvPr/>
        </p:nvSpPr>
        <p:spPr>
          <a:xfrm>
            <a:off x="4663440" y="5779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3" name="Image 2" descr="icons/grid_dark.png">
            <a:extLst>
              <a:ext uri="{FF2B5EF4-FFF2-40B4-BE49-F238E27FC236}">
                <a16:creationId xmlns:a16="http://schemas.microsoft.com/office/drawing/2014/main" id="{0D009D49-365B-C2F2-6059-1055D096911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9578340" y="3246120"/>
            <a:ext cx="640080" cy="64008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D444EC64-900E-6A5D-0112-844DD7F55195}"/>
              </a:ext>
            </a:extLst>
          </p:cNvPr>
          <p:cNvSpPr/>
          <p:nvPr/>
        </p:nvSpPr>
        <p:spPr>
          <a:xfrm>
            <a:off x="8366760" y="5779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41F0F4D-1725-7C87-042A-15A8958695A3}"/>
              </a:ext>
            </a:extLst>
          </p:cNvPr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A5D464-80A9-9799-2158-6276E018E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805" y="1417319"/>
            <a:ext cx="4487386" cy="51371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2B3901-492A-AEA3-FA8F-94F1269B48AF}"/>
              </a:ext>
            </a:extLst>
          </p:cNvPr>
          <p:cNvSpPr txBox="1"/>
          <p:nvPr/>
        </p:nvSpPr>
        <p:spPr>
          <a:xfrm>
            <a:off x="5349240" y="3657710"/>
            <a:ext cx="60976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Panel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7625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GEOCLUSTER goes next.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bars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6712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587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/ SAVI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05840" y="29535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vegetation index calculations.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26280" y="19659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map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6712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2587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Classification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754880" y="29535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supervised classification workflows.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275320" y="19659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glob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16712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2587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Multi-Satellite Support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503920" y="29535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and other sources alongside Sentinel-2.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77240" y="39319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vector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13308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5537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GIS Tools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005840" y="4919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 and vector layer support.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26280" y="39319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cloud_m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13308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4880" y="45537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754880" y="4919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GEOCLUSTER without a local install.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275320" y="393192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0F2427"/>
          </a:solidFill>
          <a:ln w="12700">
            <a:solidFill>
              <a:srgbClr val="1630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icons/rocket_m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133088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03920" y="45537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Version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503920" y="4919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access for broader reach.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371600"/>
            <a:ext cx="5486400" cy="5486400"/>
          </a:xfrm>
          <a:prstGeom prst="ellipse">
            <a:avLst/>
          </a:prstGeom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-2194560"/>
            <a:ext cx="7132320" cy="7132320"/>
          </a:xfrm>
          <a:prstGeom prst="ellipse">
            <a:avLst/>
          </a:prstGeom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-3017520"/>
            <a:ext cx="8778240" cy="8778240"/>
          </a:xfrm>
          <a:prstGeom prst="ellipse">
            <a:avLst/>
          </a:prstGeom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atellit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71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GEOCLUSTER 2.0 — AI Geospatial Assistant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Hackathon · Built by Team </a:t>
            </a:r>
            <a:r>
              <a:rPr lang="en-US" sz="1200" dirty="0" err="1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Quantum_Coders</a:t>
            </a:r>
            <a:endParaRPr lang="en-US" sz="1200" dirty="0"/>
          </a:p>
        </p:txBody>
      </p:sp>
      <p:pic>
        <p:nvPicPr>
          <p:cNvPr id="9" name="Image 1" descr="icons/githu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6072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5742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9F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https://github.com/Furqan6701/GEOCLUSTER-2.0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792</Words>
  <Application>Microsoft Office PowerPoint</Application>
  <PresentationFormat>Widescreen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Shahid</cp:lastModifiedBy>
  <cp:revision>3</cp:revision>
  <dcterms:created xsi:type="dcterms:W3CDTF">2026-07-11T13:41:45Z</dcterms:created>
  <dcterms:modified xsi:type="dcterms:W3CDTF">2026-07-11T13:51:14Z</dcterms:modified>
</cp:coreProperties>
</file>